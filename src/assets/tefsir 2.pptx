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0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3838-F337-673E-7227-5931DB068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2C866-180D-930C-BFE5-4E284CCB8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2E852-CE30-F9E9-13B1-5993D6D95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8DCFB-1746-4EA4-B953-5D286583970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6CD2F-ADC5-970C-8866-CAFF8371F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F15BD-FBA1-C41A-3D52-27FE7F18C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5A56-AEF8-4976-ADD3-B94D64D86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61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6687-4342-5CFE-48F6-14AE6B71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7519C-AD11-7AB8-AA60-918E98083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39B93-B532-B6D8-ED27-FE0080245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8DCFB-1746-4EA4-B953-5D286583970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868EC-D342-E0E3-1080-3382AD766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3089A-1F38-3D6C-92C3-270AAF5A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5A56-AEF8-4976-ADD3-B94D64D86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3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1847-9030-94C9-AF9A-C193D1EAB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AF2E3-356E-1C4D-8CD3-587DFFEFB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529A3-77FB-83E1-47BC-6606CF5D3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8DCFB-1746-4EA4-B953-5D286583970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26894-78A4-31D7-B476-2DBADA239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676C4-E646-F26D-1269-41DC4C77D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5A56-AEF8-4976-ADD3-B94D64D86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40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23AAD-1982-13DC-607C-C7154B98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6C57-7F28-0EAE-22DF-274F811FC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215BE-CEC9-E858-B4C6-245339C33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AB379-7973-0C41-310B-A54B7592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8DCFB-1746-4EA4-B953-5D286583970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FEF41-12CE-8247-4343-1FA9B4153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1B40C-4287-8D91-66B9-C2CA34E4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5A56-AEF8-4976-ADD3-B94D64D86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9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5BA2F-3F7E-B45E-69D8-0CBF7FA61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5A1ED-6762-2E94-16C0-8529AB358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696AB-2F76-1830-515E-D15C5FA7A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112483-7A5C-FBCC-2A9A-2367E96674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BA0F8-C7DA-9ED1-77D3-7D56D7401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AC4AE7-12C8-34D8-03CE-4BE14143E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8DCFB-1746-4EA4-B953-5D286583970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CCC5FC-9401-C11E-7766-85965AB3B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698326-A8CA-9C2C-961F-1492A3696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5A56-AEF8-4976-ADD3-B94D64D86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3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6F64A-4D2A-B646-CF13-3C52D6228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C79A2D-0532-0FBE-B5C0-4A0DE22C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8DCFB-1746-4EA4-B953-5D286583970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32F47E-3434-1CC9-1FDB-B965DAF20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AC512-0D98-F83B-2D4F-99066185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5A56-AEF8-4976-ADD3-B94D64D86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08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71F326-200C-238E-96DD-2DE63B985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8DCFB-1746-4EA4-B953-5D286583970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328A7-AC50-7ED0-B6D3-7F1B8D271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E09FA-CB67-77F9-176D-C30A2FC2E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5A56-AEF8-4976-ADD3-B94D64D86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51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958AA-A9EB-5B17-B150-3F206C426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64B6B-C701-F1AF-882F-F7646A0C3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5E006-6A4E-0E55-5CEC-F15F34F52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36DD1-1754-3215-1391-6701F2816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8DCFB-1746-4EA4-B953-5D286583970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BCB47-4759-A5D0-63FF-416F83B5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09D05-DFD4-8808-8EC8-251D2B07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5A56-AEF8-4976-ADD3-B94D64D86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89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6C3FF-2BEA-5FE6-D867-6E183F00D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BD0824-612C-989E-3634-276DC1CAA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1453B-61ED-EAA9-EE49-491E55D1C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22D07-5DD4-4152-0F6C-6FE1558B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8DCFB-1746-4EA4-B953-5D286583970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13318-7175-82AD-8559-BB8F162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AFA2E-0682-91B6-2B96-D873085D2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5A56-AEF8-4976-ADD3-B94D64D86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02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B9D7F-0E63-7B2F-D915-CF4189CEC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19A26-085C-D522-622E-ED53439C5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26B95-C343-BA99-9D17-28C56E63E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8DCFB-1746-4EA4-B953-5D286583970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0705D-1D6F-4001-E7ED-B85BDF6A6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822A1-DA7B-B2E0-0FE0-F7E1B7001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5A56-AEF8-4976-ADD3-B94D64D86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9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BBBF6B-66C8-2774-8308-201B5AC68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DE8EC-B2E5-2996-0110-DDBDBB710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78944-D114-7476-8456-A34AADBB2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8DCFB-1746-4EA4-B953-5D286583970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8EF-3BB2-2239-A06D-D62963E98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DBB5F-0BB9-5B64-BD5B-3B3E8920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5A56-AEF8-4976-ADD3-B94D64D86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25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15999D-0590-0974-B8D0-F4A64E063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ABC6F-8020-72F1-E11E-A20B43A0C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ACD1C-96EE-5CC0-05B5-C5B8C637CA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28DCFB-1746-4EA4-B953-5D286583970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D0E7E-5FDF-77E9-EE7D-595B6D00C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03928-8DD2-62A9-3037-123C8FBFE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E5A56-AEF8-4976-ADD3-B94D64D86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351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EF4AEA-5176-5D5E-5669-E2F527D95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İbn Kesir Tefsiri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6343C5-DDE2-7F3E-692A-A878188AD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b="0" i="0" dirty="0" err="1">
                <a:solidFill>
                  <a:srgbClr val="EEF0FF"/>
                </a:solidFill>
                <a:effectLst/>
                <a:latin typeface="Google Sans"/>
              </a:rPr>
              <a:t>Ebü'l-Fidâ</a:t>
            </a:r>
            <a:r>
              <a:rPr lang="en-US" b="0" i="0" dirty="0">
                <a:solidFill>
                  <a:srgbClr val="EEF0FF"/>
                </a:solidFill>
                <a:effectLst/>
                <a:latin typeface="Google Sans"/>
              </a:rPr>
              <a:t> İbn </a:t>
            </a:r>
            <a:r>
              <a:rPr lang="en-US" b="0" i="0" dirty="0" err="1">
                <a:solidFill>
                  <a:srgbClr val="EEF0FF"/>
                </a:solidFill>
                <a:effectLst/>
                <a:latin typeface="Google Sans"/>
              </a:rPr>
              <a:t>Kesir</a:t>
            </a:r>
            <a:r>
              <a:rPr lang="tr-TR" b="0" i="0" dirty="0">
                <a:solidFill>
                  <a:srgbClr val="EEF0FF"/>
                </a:solidFill>
                <a:effectLst/>
                <a:latin typeface="Google Sans"/>
              </a:rPr>
              <a:t> </a:t>
            </a:r>
            <a:r>
              <a:rPr lang="en-US" b="0" i="0" dirty="0">
                <a:solidFill>
                  <a:srgbClr val="EEF0FF"/>
                </a:solidFill>
                <a:effectLst/>
                <a:latin typeface="Google Sans"/>
              </a:rPr>
              <a:t>(</a:t>
            </a:r>
            <a:r>
              <a:rPr lang="tr-TR" dirty="0">
                <a:solidFill>
                  <a:srgbClr val="FFFFFF"/>
                </a:solidFill>
              </a:rPr>
              <a:t>1301-1371</a:t>
            </a:r>
            <a:r>
              <a:rPr lang="en-US" dirty="0">
                <a:solidFill>
                  <a:srgbClr val="FFFFFF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76419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10214-75A0-4830-1A07-194E4764F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tr-TR" sz="4000" dirty="0">
                <a:solidFill>
                  <a:srgbClr val="FFFFFF"/>
                </a:solidFill>
              </a:rPr>
              <a:t>TİN SURESİ 4. AYET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18A93-E168-D740-547C-CB34AF863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1171074"/>
            <a:ext cx="6555347" cy="5534526"/>
          </a:xfrm>
        </p:spPr>
        <p:txBody>
          <a:bodyPr anchor="ctr">
            <a:normAutofit/>
          </a:bodyPr>
          <a:lstStyle/>
          <a:p>
            <a:r>
              <a:rPr lang="en-US" sz="2000" dirty="0"/>
              <a:t> </a:t>
            </a:r>
            <a:r>
              <a:rPr lang="en-US" sz="2000" dirty="0" err="1">
                <a:solidFill>
                  <a:srgbClr val="C00000"/>
                </a:solidFill>
              </a:rPr>
              <a:t>İşte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yeminin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ko­nusu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budur</a:t>
            </a:r>
            <a:r>
              <a:rPr lang="en-US" sz="2000" dirty="0"/>
              <a:t>. Allah </a:t>
            </a:r>
            <a:r>
              <a:rPr lang="en-US" sz="2000" dirty="0" err="1"/>
              <a:t>Teâlâ’n</a:t>
            </a:r>
            <a:r>
              <a:rPr lang="tr-TR" sz="2000" dirty="0"/>
              <a:t>ı</a:t>
            </a:r>
            <a:r>
              <a:rPr lang="en-US" sz="2000" dirty="0"/>
              <a:t>n </a:t>
            </a:r>
            <a:r>
              <a:rPr lang="en-US" sz="2000" dirty="0" err="1"/>
              <a:t>insanı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güzel</a:t>
            </a:r>
            <a:r>
              <a:rPr lang="en-US" sz="2000" dirty="0"/>
              <a:t> </a:t>
            </a:r>
            <a:r>
              <a:rPr lang="en-US" sz="2000" dirty="0" err="1"/>
              <a:t>biçimde</a:t>
            </a:r>
            <a:r>
              <a:rPr lang="en-US" sz="2000" dirty="0"/>
              <a:t> </a:t>
            </a:r>
            <a:r>
              <a:rPr lang="en-US" sz="2000" dirty="0" err="1"/>
              <a:t>yaratmış</a:t>
            </a:r>
            <a:r>
              <a:rPr lang="en-US" sz="2000" dirty="0"/>
              <a:t> </a:t>
            </a:r>
            <a:r>
              <a:rPr lang="en-US" sz="2000" dirty="0" err="1"/>
              <a:t>olması</a:t>
            </a:r>
            <a:r>
              <a:rPr lang="en-US" sz="2000" dirty="0"/>
              <a:t>. </a:t>
            </a:r>
            <a:r>
              <a:rPr lang="en-US" sz="2000" dirty="0">
                <a:solidFill>
                  <a:srgbClr val="C00000"/>
                </a:solidFill>
              </a:rPr>
              <a:t>Boyu</a:t>
            </a:r>
            <a:r>
              <a:rPr lang="tr-TR" sz="2000" dirty="0">
                <a:solidFill>
                  <a:srgbClr val="C00000"/>
                </a:solidFill>
              </a:rPr>
              <a:t> posu </a:t>
            </a:r>
            <a:r>
              <a:rPr lang="en-US" sz="2000" dirty="0" err="1">
                <a:solidFill>
                  <a:srgbClr val="C00000"/>
                </a:solidFill>
              </a:rPr>
              <a:t>düzgün</a:t>
            </a:r>
            <a:r>
              <a:rPr lang="en-US" sz="2000" dirty="0"/>
              <a:t>, </a:t>
            </a:r>
            <a:r>
              <a:rPr lang="en-US" sz="2000" dirty="0" err="1">
                <a:solidFill>
                  <a:srgbClr val="C00000"/>
                </a:solidFill>
              </a:rPr>
              <a:t>organları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yerinde</a:t>
            </a:r>
            <a:r>
              <a:rPr lang="en-US" sz="2000" dirty="0">
                <a:solidFill>
                  <a:srgbClr val="C00000"/>
                </a:solidFill>
              </a:rPr>
              <a:t>, </a:t>
            </a:r>
            <a:r>
              <a:rPr lang="en-US" sz="2000" dirty="0" err="1">
                <a:solidFill>
                  <a:srgbClr val="C00000"/>
                </a:solidFill>
              </a:rPr>
              <a:t>güzel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bir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biçimde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/>
              <a:t>yaratmış</a:t>
            </a:r>
            <a:r>
              <a:rPr lang="en-US" sz="2000" dirty="0"/>
              <a:t> </a:t>
            </a:r>
            <a:r>
              <a:rPr lang="en-US" sz="2000" dirty="0" err="1"/>
              <a:t>ol­ması</a:t>
            </a:r>
            <a:r>
              <a:rPr lang="en-US" sz="2000" dirty="0"/>
              <a:t>.</a:t>
            </a:r>
            <a:endParaRPr lang="tr-TR" sz="2000" dirty="0"/>
          </a:p>
          <a:p>
            <a:r>
              <a:rPr lang="en-US" sz="2000" dirty="0"/>
              <a:t>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yeminle</a:t>
            </a:r>
            <a:r>
              <a:rPr lang="en-US" sz="2000" dirty="0"/>
              <a:t> </a:t>
            </a:r>
            <a:r>
              <a:rPr lang="en-US" sz="2000" dirty="0" err="1"/>
              <a:t>ayrıca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C00000"/>
                </a:solidFill>
              </a:rPr>
              <a:t>yaratılış</a:t>
            </a:r>
            <a:r>
              <a:rPr lang="tr-TR" sz="2000" dirty="0">
                <a:solidFill>
                  <a:srgbClr val="C00000"/>
                </a:solidFill>
              </a:rPr>
              <a:t>ı</a:t>
            </a:r>
            <a:r>
              <a:rPr lang="en-US" sz="2000" dirty="0">
                <a:solidFill>
                  <a:srgbClr val="C00000"/>
                </a:solidFill>
              </a:rPr>
              <a:t>m</a:t>
            </a:r>
            <a:r>
              <a:rPr lang="tr-TR" sz="2000" dirty="0">
                <a:solidFill>
                  <a:srgbClr val="C00000"/>
                </a:solidFill>
              </a:rPr>
              <a:t>ız</a:t>
            </a:r>
            <a:r>
              <a:rPr lang="en-US" sz="2000" dirty="0" err="1">
                <a:solidFill>
                  <a:srgbClr val="C00000"/>
                </a:solidFill>
              </a:rPr>
              <a:t>daki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azameti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pekiştiriyor</a:t>
            </a:r>
            <a:r>
              <a:rPr lang="en-US" sz="2000" dirty="0"/>
              <a:t>. </a:t>
            </a:r>
            <a:r>
              <a:rPr lang="en-US" sz="2000" dirty="0" err="1">
                <a:solidFill>
                  <a:srgbClr val="C00000"/>
                </a:solidFill>
              </a:rPr>
              <a:t>Çünkü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insanlar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Al­lah'ın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kendilerini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üstün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kıldığı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akıl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nimetinden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habersiz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olduklarından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kendilerinin</a:t>
            </a:r>
            <a:r>
              <a:rPr lang="en-US" sz="2000" dirty="0">
                <a:solidFill>
                  <a:srgbClr val="C00000"/>
                </a:solidFill>
              </a:rPr>
              <a:t> de </a:t>
            </a:r>
            <a:r>
              <a:rPr lang="en-US" sz="2000" dirty="0" err="1">
                <a:solidFill>
                  <a:srgbClr val="C00000"/>
                </a:solidFill>
              </a:rPr>
              <a:t>diğer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hayvanlar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gibi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bir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canlı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olduğunu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sanmaktaydılar</a:t>
            </a:r>
            <a:r>
              <a:rPr lang="en-US" sz="2000" dirty="0">
                <a:solidFill>
                  <a:srgbClr val="C00000"/>
                </a:solidFill>
              </a:rPr>
              <a:t>. </a:t>
            </a:r>
            <a:r>
              <a:rPr lang="en-US" sz="2000" dirty="0" err="1"/>
              <a:t>Dilediklerini</a:t>
            </a:r>
            <a:r>
              <a:rPr lang="en-US" sz="2000" dirty="0"/>
              <a:t> </a:t>
            </a:r>
            <a:r>
              <a:rPr lang="en-US" sz="2000" dirty="0" err="1"/>
              <a:t>yapacaklarını</a:t>
            </a:r>
            <a:r>
              <a:rPr lang="en-US" sz="2000" dirty="0"/>
              <a:t>, </a:t>
            </a:r>
            <a:r>
              <a:rPr lang="en-US" sz="2000" dirty="0" err="1"/>
              <a:t>kendilerini</a:t>
            </a:r>
            <a:r>
              <a:rPr lang="en-US" sz="2000" dirty="0"/>
              <a:t> </a:t>
            </a:r>
            <a:r>
              <a:rPr lang="en-US" sz="2000" dirty="0" err="1"/>
              <a:t>engelleyecek</a:t>
            </a:r>
            <a:r>
              <a:rPr lang="en-US" sz="2000" dirty="0"/>
              <a:t> </a:t>
            </a:r>
            <a:r>
              <a:rPr lang="en-US" sz="2000" dirty="0" err="1"/>
              <a:t>hiçbir</a:t>
            </a:r>
            <a:r>
              <a:rPr lang="en-US" sz="2000" dirty="0"/>
              <a:t> </a:t>
            </a:r>
            <a:r>
              <a:rPr lang="en-US" sz="2000" dirty="0" err="1"/>
              <a:t>şey</a:t>
            </a:r>
            <a:r>
              <a:rPr lang="en-US" sz="2000" dirty="0"/>
              <a:t> </a:t>
            </a:r>
            <a:r>
              <a:rPr lang="en-US" sz="2000" dirty="0" err="1"/>
              <a:t>bulun­madığını</a:t>
            </a:r>
            <a:r>
              <a:rPr lang="en-US" sz="2000" dirty="0"/>
              <a:t> </a:t>
            </a:r>
            <a:r>
              <a:rPr lang="en-US" sz="2000" dirty="0" err="1"/>
              <a:t>sanmaktaydılar</a:t>
            </a:r>
            <a:r>
              <a:rPr lang="en-US" sz="2000" dirty="0"/>
              <a:t>. </a:t>
            </a:r>
            <a:r>
              <a:rPr lang="en-US" sz="2000" dirty="0" err="1">
                <a:solidFill>
                  <a:srgbClr val="C00000"/>
                </a:solidFill>
              </a:rPr>
              <a:t>Hattâ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bazıları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dediler</a:t>
            </a:r>
            <a:r>
              <a:rPr lang="en-US" sz="2000" dirty="0">
                <a:solidFill>
                  <a:srgbClr val="C00000"/>
                </a:solidFill>
              </a:rPr>
              <a:t> ki: </a:t>
            </a:r>
            <a:r>
              <a:rPr lang="en-US" sz="2000" dirty="0" err="1">
                <a:solidFill>
                  <a:srgbClr val="C00000"/>
                </a:solidFill>
              </a:rPr>
              <a:t>İnsan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yaratılışı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iti­barıyla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kötülüğe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meyilli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yaratılmıştır</a:t>
            </a:r>
            <a:r>
              <a:rPr lang="en-US" sz="2000" dirty="0">
                <a:solidFill>
                  <a:srgbClr val="C00000"/>
                </a:solidFill>
              </a:rPr>
              <a:t>. Allah </a:t>
            </a:r>
            <a:r>
              <a:rPr lang="en-US" sz="2000" dirty="0" err="1">
                <a:solidFill>
                  <a:srgbClr val="C00000"/>
                </a:solidFill>
              </a:rPr>
              <a:t>Teâlâ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bu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iddiaların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bozuk­luğunu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açıklamak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üzere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insanı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en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güzel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bir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şekilde</a:t>
            </a:r>
            <a:r>
              <a:rPr lang="en-US" sz="2000" dirty="0">
                <a:solidFill>
                  <a:srgbClr val="C00000"/>
                </a:solidFill>
              </a:rPr>
              <a:t>; </a:t>
            </a:r>
            <a:r>
              <a:rPr lang="en-US" sz="2000" dirty="0" err="1">
                <a:solidFill>
                  <a:srgbClr val="C00000"/>
                </a:solidFill>
              </a:rPr>
              <a:t>rûh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ve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bedenden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yarattığını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ve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onu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akıl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ile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donatıp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yeryüzündeki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diğer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varlıkların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efen­disi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>
                <a:solidFill>
                  <a:srgbClr val="C00000"/>
                </a:solidFill>
              </a:rPr>
              <a:t>kıldığını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Allah'ın</a:t>
            </a:r>
            <a:r>
              <a:rPr lang="en-US" sz="2000" dirty="0"/>
              <a:t> </a:t>
            </a:r>
            <a:r>
              <a:rPr lang="en-US" sz="2000" dirty="0" err="1"/>
              <a:t>dilediği</a:t>
            </a:r>
            <a:r>
              <a:rPr lang="en-US" sz="2000" dirty="0"/>
              <a:t> </a:t>
            </a:r>
            <a:r>
              <a:rPr lang="en-US" sz="2000" dirty="0" err="1"/>
              <a:t>kadarıyla</a:t>
            </a:r>
            <a:r>
              <a:rPr lang="en-US" sz="2000" dirty="0"/>
              <a:t> </a:t>
            </a:r>
            <a:r>
              <a:rPr lang="en-US" sz="2000" dirty="0" err="1"/>
              <a:t>semavî</a:t>
            </a:r>
            <a:r>
              <a:rPr lang="en-US" sz="2000" dirty="0"/>
              <a:t> </a:t>
            </a:r>
            <a:r>
              <a:rPr lang="en-US" sz="2000" dirty="0" err="1"/>
              <a:t>âlemlerin</a:t>
            </a:r>
            <a:r>
              <a:rPr lang="en-US" sz="2000" dirty="0"/>
              <a:t> </a:t>
            </a:r>
            <a:r>
              <a:rPr lang="en-US" sz="2000" dirty="0" err="1"/>
              <a:t>durumunu</a:t>
            </a:r>
            <a:r>
              <a:rPr lang="en-US" sz="2000" dirty="0"/>
              <a:t> </a:t>
            </a:r>
            <a:r>
              <a:rPr lang="en-US" sz="2000" dirty="0" err="1"/>
              <a:t>gösterdiğini</a:t>
            </a:r>
            <a:r>
              <a:rPr lang="en-US" sz="2000" dirty="0"/>
              <a:t> </a:t>
            </a:r>
            <a:r>
              <a:rPr lang="en-US" sz="2000" dirty="0" err="1"/>
              <a:t>belirtmektedir</a:t>
            </a:r>
            <a:r>
              <a:rPr lang="en-US" sz="2000" dirty="0"/>
              <a:t>.</a:t>
            </a:r>
            <a:br>
              <a:rPr lang="tr-TR" sz="2000" dirty="0"/>
            </a:b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3D5DD-B257-ED98-26D8-B2CC5A7D5AE1}"/>
              </a:ext>
            </a:extLst>
          </p:cNvPr>
          <p:cNvSpPr txBox="1"/>
          <p:nvPr/>
        </p:nvSpPr>
        <p:spPr>
          <a:xfrm>
            <a:off x="4910899" y="511388"/>
            <a:ext cx="648653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 err="1"/>
              <a:t>Doğrusu</a:t>
            </a:r>
            <a:r>
              <a:rPr lang="en-US" sz="2500" dirty="0"/>
              <a:t> Biz, </a:t>
            </a:r>
            <a:r>
              <a:rPr lang="en-US" sz="2500" dirty="0" err="1"/>
              <a:t>insanı</a:t>
            </a:r>
            <a:r>
              <a:rPr lang="en-US" sz="2500" dirty="0"/>
              <a:t> </a:t>
            </a:r>
            <a:r>
              <a:rPr lang="en-US" sz="2500" dirty="0" err="1"/>
              <a:t>en</a:t>
            </a:r>
            <a:r>
              <a:rPr lang="en-US" sz="2500" dirty="0"/>
              <a:t> </a:t>
            </a:r>
            <a:r>
              <a:rPr lang="en-US" sz="2500" dirty="0" err="1"/>
              <a:t>güzel</a:t>
            </a:r>
            <a:r>
              <a:rPr lang="en-US" sz="2500" dirty="0"/>
              <a:t> </a:t>
            </a:r>
            <a:r>
              <a:rPr lang="en-US" sz="2500" dirty="0" err="1"/>
              <a:t>biçimde</a:t>
            </a:r>
            <a:r>
              <a:rPr lang="en-US" sz="2500" dirty="0"/>
              <a:t> </a:t>
            </a:r>
            <a:r>
              <a:rPr lang="en-US" sz="2500" dirty="0" err="1"/>
              <a:t>yarattık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789116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321CE-2878-48C9-B9E0-83485B1F2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tr-TR" sz="4000" dirty="0">
                <a:solidFill>
                  <a:srgbClr val="FFFFFF"/>
                </a:solidFill>
              </a:rPr>
              <a:t>TİN SURESİ 5. AYET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4CE0C-5F6B-D324-5B94-C649FC9E1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1010653"/>
            <a:ext cx="6555347" cy="5566610"/>
          </a:xfrm>
        </p:spPr>
        <p:txBody>
          <a:bodyPr anchor="ctr">
            <a:normAutofit/>
          </a:bodyPr>
          <a:lstStyle/>
          <a:p>
            <a:r>
              <a:rPr lang="en-US" sz="1400" dirty="0" err="1">
                <a:solidFill>
                  <a:srgbClr val="C00000"/>
                </a:solidFill>
              </a:rPr>
              <a:t>Cehenneme</a:t>
            </a:r>
            <a:r>
              <a:rPr lang="en-US" sz="1400" dirty="0"/>
              <a:t>. </a:t>
            </a:r>
            <a:r>
              <a:rPr lang="en-US" sz="1400" dirty="0" err="1"/>
              <a:t>Mücâhid</a:t>
            </a:r>
            <a:r>
              <a:rPr lang="en-US" sz="1400" dirty="0"/>
              <a:t>, </a:t>
            </a:r>
            <a:r>
              <a:rPr lang="en-US" sz="1400" dirty="0" err="1"/>
              <a:t>Ebu'l-Âliye</a:t>
            </a:r>
            <a:r>
              <a:rPr lang="en-US" sz="1400" dirty="0"/>
              <a:t>, Hasan, İbn Zeyd </a:t>
            </a:r>
            <a:r>
              <a:rPr lang="en-US" sz="1400" dirty="0" err="1"/>
              <a:t>ve</a:t>
            </a:r>
            <a:r>
              <a:rPr lang="en-US" sz="1400" dirty="0"/>
              <a:t> </a:t>
            </a:r>
            <a:r>
              <a:rPr lang="en-US" sz="1400" dirty="0" err="1"/>
              <a:t>başkala</a:t>
            </a:r>
            <a:r>
              <a:rPr lang="tr-TR" sz="1400" dirty="0"/>
              <a:t>rı</a:t>
            </a:r>
            <a:r>
              <a:rPr lang="en-US" sz="1400" dirty="0"/>
              <a:t> </a:t>
            </a:r>
            <a:r>
              <a:rPr lang="en-US" sz="1400" dirty="0" err="1"/>
              <a:t>böyle</a:t>
            </a:r>
            <a:r>
              <a:rPr lang="en-US" sz="1400" dirty="0"/>
              <a:t> </a:t>
            </a:r>
            <a:r>
              <a:rPr lang="en-US" sz="1400" dirty="0" err="1"/>
              <a:t>derler</a:t>
            </a:r>
            <a:r>
              <a:rPr lang="en-US" sz="1400" dirty="0"/>
              <a:t>. </a:t>
            </a:r>
            <a:r>
              <a:rPr lang="en-US" sz="1400" dirty="0">
                <a:solidFill>
                  <a:srgbClr val="C00000"/>
                </a:solidFill>
              </a:rPr>
              <a:t>Sonra o, </a:t>
            </a:r>
            <a:r>
              <a:rPr lang="en-US" sz="1400" dirty="0" err="1">
                <a:solidFill>
                  <a:srgbClr val="C00000"/>
                </a:solidFill>
              </a:rPr>
              <a:t>bu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güzellikle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iyiliğe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rağmen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Allah'a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itaat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edip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peygamberine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tâbi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olmazsa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varacağı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yer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cehennemdir</a:t>
            </a:r>
            <a:endParaRPr lang="tr-TR" sz="1400" dirty="0">
              <a:solidFill>
                <a:srgbClr val="C00000"/>
              </a:solidFill>
            </a:endParaRPr>
          </a:p>
          <a:p>
            <a:r>
              <a:rPr lang="en-US" sz="1400" dirty="0" err="1"/>
              <a:t>İnsanlık</a:t>
            </a:r>
            <a:r>
              <a:rPr lang="en-US" sz="1400" dirty="0"/>
              <a:t> ilk </a:t>
            </a:r>
            <a:r>
              <a:rPr lang="en-US" sz="1400" dirty="0" err="1"/>
              <a:t>yetişme</a:t>
            </a:r>
            <a:r>
              <a:rPr lang="en-US" sz="1400" dirty="0"/>
              <a:t> </a:t>
            </a:r>
            <a:r>
              <a:rPr lang="en-US" sz="1400" dirty="0" err="1"/>
              <a:t>döneminde</a:t>
            </a:r>
            <a:r>
              <a:rPr lang="en-US" sz="1400" dirty="0"/>
              <a:t>, her </a:t>
            </a:r>
            <a:r>
              <a:rPr lang="en-US" sz="1400" dirty="0" err="1"/>
              <a:t>türlü</a:t>
            </a:r>
            <a:r>
              <a:rPr lang="en-US" sz="1400" dirty="0"/>
              <a:t> </a:t>
            </a:r>
            <a:r>
              <a:rPr lang="en-US" sz="1400" dirty="0" err="1"/>
              <a:t>bencillikten</a:t>
            </a:r>
            <a:r>
              <a:rPr lang="en-US" sz="1400" dirty="0"/>
              <a:t> </a:t>
            </a:r>
            <a:r>
              <a:rPr lang="en-US" sz="1400" dirty="0" err="1"/>
              <a:t>uzak</a:t>
            </a:r>
            <a:r>
              <a:rPr lang="en-US" sz="1400" dirty="0"/>
              <a:t>, kalbi </a:t>
            </a:r>
            <a:r>
              <a:rPr lang="en-US" sz="1400" dirty="0" err="1"/>
              <a:t>merhametle</a:t>
            </a:r>
            <a:r>
              <a:rPr lang="en-US" sz="1400" dirty="0"/>
              <a:t> </a:t>
            </a:r>
            <a:r>
              <a:rPr lang="en-US" sz="1400" dirty="0" err="1"/>
              <a:t>dolup</a:t>
            </a:r>
            <a:r>
              <a:rPr lang="en-US" sz="1400" dirty="0"/>
              <a:t> </a:t>
            </a:r>
            <a:r>
              <a:rPr lang="en-US" sz="1400" dirty="0" err="1"/>
              <a:t>taşıyordu</a:t>
            </a:r>
            <a:r>
              <a:rPr lang="tr-TR" sz="1400" dirty="0"/>
              <a:t>, </a:t>
            </a:r>
            <a:r>
              <a:rPr lang="en-US" sz="1400" dirty="0" err="1"/>
              <a:t>şefkat</a:t>
            </a:r>
            <a:r>
              <a:rPr lang="en-US" sz="1400" dirty="0"/>
              <a:t> </a:t>
            </a:r>
            <a:r>
              <a:rPr lang="en-US" sz="1400" dirty="0" err="1"/>
              <a:t>doluydu</a:t>
            </a:r>
            <a:r>
              <a:rPr lang="en-US" sz="1400" dirty="0"/>
              <a:t>. Bir </a:t>
            </a:r>
            <a:r>
              <a:rPr lang="en-US" sz="1400" dirty="0" err="1"/>
              <a:t>süre</a:t>
            </a:r>
            <a:r>
              <a:rPr lang="en-US" sz="1400" dirty="0"/>
              <a:t> </a:t>
            </a:r>
            <a:r>
              <a:rPr lang="en-US" sz="1400" dirty="0" err="1"/>
              <a:t>mutlu</a:t>
            </a:r>
            <a:r>
              <a:rPr lang="en-US" sz="1400" dirty="0"/>
              <a:t> </a:t>
            </a:r>
            <a:r>
              <a:rPr lang="en-US" sz="1400" dirty="0" err="1"/>
              <a:t>olarak</a:t>
            </a:r>
            <a:r>
              <a:rPr lang="en-US" sz="1400" dirty="0"/>
              <a:t> </a:t>
            </a:r>
            <a:r>
              <a:rPr lang="en-US" sz="1400" dirty="0" err="1"/>
              <a:t>yaşadı</a:t>
            </a:r>
            <a:r>
              <a:rPr lang="tr-TR" sz="1400" dirty="0"/>
              <a:t> </a:t>
            </a:r>
            <a:r>
              <a:rPr lang="en-US" sz="1400" dirty="0"/>
              <a:t>Bu </a:t>
            </a:r>
            <a:r>
              <a:rPr lang="en-US" sz="1400" dirty="0" err="1"/>
              <a:t>dönem</a:t>
            </a:r>
            <a:r>
              <a:rPr lang="en-US" sz="1400" dirty="0"/>
              <a:t>, </a:t>
            </a:r>
            <a:r>
              <a:rPr lang="en-US" sz="1400" dirty="0" err="1"/>
              <a:t>kanâat</a:t>
            </a:r>
            <a:r>
              <a:rPr lang="en-US" sz="1400" dirty="0"/>
              <a:t> </a:t>
            </a:r>
            <a:r>
              <a:rPr lang="en-US" sz="1400" dirty="0" err="1"/>
              <a:t>dö­nemiydi</a:t>
            </a:r>
            <a:r>
              <a:rPr lang="en-US" sz="1400" dirty="0"/>
              <a:t>. Bu </a:t>
            </a:r>
            <a:r>
              <a:rPr lang="en-US" sz="1400" dirty="0" err="1"/>
              <a:t>dönemde</a:t>
            </a:r>
            <a:r>
              <a:rPr lang="en-US" sz="1400" dirty="0"/>
              <a:t> </a:t>
            </a:r>
            <a:r>
              <a:rPr lang="en-US" sz="1400" dirty="0" err="1"/>
              <a:t>yaşamak</a:t>
            </a:r>
            <a:r>
              <a:rPr lang="en-US" sz="1400" dirty="0"/>
              <a:t> </a:t>
            </a:r>
            <a:r>
              <a:rPr lang="en-US" sz="1400" dirty="0" err="1"/>
              <a:t>kolaydı</a:t>
            </a:r>
            <a:r>
              <a:rPr lang="en-US" sz="1400" dirty="0"/>
              <a:t>. Her </a:t>
            </a:r>
            <a:r>
              <a:rPr lang="en-US" sz="1400" dirty="0" err="1"/>
              <a:t>ferd</a:t>
            </a:r>
            <a:r>
              <a:rPr lang="en-US" sz="1400" dirty="0"/>
              <a:t> </a:t>
            </a:r>
            <a:r>
              <a:rPr lang="en-US" sz="1400" dirty="0" err="1"/>
              <a:t>başkasına</a:t>
            </a:r>
            <a:r>
              <a:rPr lang="en-US" sz="1400" dirty="0"/>
              <a:t> </a:t>
            </a:r>
            <a:r>
              <a:rPr lang="en-US" sz="1400" dirty="0" err="1"/>
              <a:t>muhtaç</a:t>
            </a:r>
            <a:r>
              <a:rPr lang="en-US" sz="1400" dirty="0"/>
              <a:t> </a:t>
            </a:r>
            <a:r>
              <a:rPr lang="en-US" sz="1400" dirty="0" err="1"/>
              <a:t>ol­duğunu</a:t>
            </a:r>
            <a:r>
              <a:rPr lang="en-US" sz="1400" dirty="0"/>
              <a:t> </a:t>
            </a:r>
            <a:r>
              <a:rPr lang="en-US" sz="1400" dirty="0" err="1"/>
              <a:t>ve</a:t>
            </a:r>
            <a:r>
              <a:rPr lang="en-US" sz="1400" dirty="0"/>
              <a:t> </a:t>
            </a:r>
            <a:r>
              <a:rPr lang="en-US" sz="1400" dirty="0" err="1"/>
              <a:t>kendine</a:t>
            </a:r>
            <a:r>
              <a:rPr lang="en-US" sz="1400" dirty="0"/>
              <a:t> </a:t>
            </a:r>
            <a:r>
              <a:rPr lang="en-US" sz="1400" dirty="0" err="1"/>
              <a:t>vâki</a:t>
            </a:r>
            <a:r>
              <a:rPr lang="en-US" sz="1400" dirty="0"/>
              <a:t>' </a:t>
            </a:r>
            <a:r>
              <a:rPr lang="en-US" sz="1400" dirty="0" err="1"/>
              <a:t>saldırıları</a:t>
            </a:r>
            <a:r>
              <a:rPr lang="en-US" sz="1400" dirty="0"/>
              <a:t> </a:t>
            </a:r>
            <a:r>
              <a:rPr lang="en-US" sz="1400" dirty="0" err="1"/>
              <a:t>bertaraf</a:t>
            </a:r>
            <a:r>
              <a:rPr lang="en-US" sz="1400" dirty="0"/>
              <a:t> </a:t>
            </a:r>
            <a:r>
              <a:rPr lang="en-US" sz="1400" dirty="0" err="1"/>
              <a:t>etmek</a:t>
            </a:r>
            <a:r>
              <a:rPr lang="en-US" sz="1400" dirty="0"/>
              <a:t> </a:t>
            </a:r>
            <a:r>
              <a:rPr lang="en-US" sz="1400" dirty="0" err="1"/>
              <a:t>için</a:t>
            </a:r>
            <a:r>
              <a:rPr lang="en-US" sz="1400" dirty="0"/>
              <a:t> </a:t>
            </a:r>
            <a:r>
              <a:rPr lang="en-US" sz="1400" dirty="0" err="1"/>
              <a:t>başkalarından</a:t>
            </a:r>
            <a:r>
              <a:rPr lang="en-US" sz="1400" dirty="0"/>
              <a:t> </a:t>
            </a:r>
            <a:r>
              <a:rPr lang="en-US" sz="1400" dirty="0" err="1"/>
              <a:t>yardım</a:t>
            </a:r>
            <a:r>
              <a:rPr lang="en-US" sz="1400" dirty="0"/>
              <a:t> </a:t>
            </a:r>
            <a:r>
              <a:rPr lang="en-US" sz="1400" dirty="0" err="1"/>
              <a:t>görmesi</a:t>
            </a:r>
            <a:r>
              <a:rPr lang="en-US" sz="1400" dirty="0"/>
              <a:t> </a:t>
            </a:r>
            <a:r>
              <a:rPr lang="en-US" sz="1400" dirty="0" err="1"/>
              <a:t>gerektiğini</a:t>
            </a:r>
            <a:r>
              <a:rPr lang="en-US" sz="1400" dirty="0"/>
              <a:t> </a:t>
            </a:r>
            <a:r>
              <a:rPr lang="en-US" sz="1400" dirty="0" err="1"/>
              <a:t>fazlasıyla</a:t>
            </a:r>
            <a:r>
              <a:rPr lang="en-US" sz="1400" dirty="0"/>
              <a:t> </a:t>
            </a:r>
            <a:r>
              <a:rPr lang="en-US" sz="1400" dirty="0" err="1"/>
              <a:t>hissediyordu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Bundan</a:t>
            </a:r>
            <a:r>
              <a:rPr lang="en-US" sz="1400" dirty="0"/>
              <a:t> </a:t>
            </a:r>
            <a:r>
              <a:rPr lang="en-US" sz="1400" dirty="0" err="1"/>
              <a:t>sonra</a:t>
            </a:r>
            <a:r>
              <a:rPr lang="en-US" sz="1400" dirty="0"/>
              <a:t> </a:t>
            </a:r>
            <a:r>
              <a:rPr lang="en-US" sz="1400" dirty="0" err="1"/>
              <a:t>şehvet</a:t>
            </a:r>
            <a:r>
              <a:rPr lang="en-US" sz="1400" dirty="0"/>
              <a:t> </a:t>
            </a:r>
            <a:r>
              <a:rPr lang="en-US" sz="1400" dirty="0" err="1"/>
              <a:t>ve</a:t>
            </a:r>
            <a:r>
              <a:rPr lang="en-US" sz="1400" dirty="0"/>
              <a:t> </a:t>
            </a:r>
            <a:r>
              <a:rPr lang="en-US" sz="1400" dirty="0" err="1"/>
              <a:t>arzular</a:t>
            </a:r>
            <a:r>
              <a:rPr lang="en-US" sz="1400" dirty="0"/>
              <a:t> </a:t>
            </a:r>
            <a:r>
              <a:rPr lang="en-US" sz="1400" dirty="0" err="1"/>
              <a:t>uyanmaya</a:t>
            </a:r>
            <a:r>
              <a:rPr lang="en-US" sz="1400" dirty="0"/>
              <a:t> </a:t>
            </a:r>
            <a:r>
              <a:rPr lang="en-US" sz="1400" dirty="0" err="1"/>
              <a:t>başladı</a:t>
            </a:r>
            <a:r>
              <a:rPr lang="en-US" sz="1400" dirty="0"/>
              <a:t>. </a:t>
            </a:r>
            <a:r>
              <a:rPr lang="en-US" sz="1400" dirty="0" err="1"/>
              <a:t>İstekler</a:t>
            </a:r>
            <a:r>
              <a:rPr lang="en-US" sz="1400" dirty="0"/>
              <a:t> </a:t>
            </a:r>
            <a:r>
              <a:rPr lang="en-US" sz="1400" dirty="0" err="1"/>
              <a:t>farklı­laştı</a:t>
            </a:r>
            <a:r>
              <a:rPr lang="en-US" sz="1400" dirty="0"/>
              <a:t>. </a:t>
            </a:r>
            <a:r>
              <a:rPr lang="en-US" sz="1400" dirty="0" err="1"/>
              <a:t>Kıskançlık</a:t>
            </a:r>
            <a:r>
              <a:rPr lang="en-US" sz="1400" dirty="0"/>
              <a:t> </a:t>
            </a:r>
            <a:r>
              <a:rPr lang="en-US" sz="1400" dirty="0" err="1"/>
              <a:t>ve</a:t>
            </a:r>
            <a:r>
              <a:rPr lang="en-US" sz="1400" dirty="0"/>
              <a:t> kin </a:t>
            </a:r>
            <a:r>
              <a:rPr lang="en-US" sz="1400" dirty="0" err="1"/>
              <a:t>tohumlan</a:t>
            </a:r>
            <a:r>
              <a:rPr lang="en-US" sz="1400" dirty="0"/>
              <a:t> </a:t>
            </a:r>
            <a:r>
              <a:rPr lang="en-US" sz="1400" dirty="0" err="1"/>
              <a:t>yeşerdi</a:t>
            </a:r>
            <a:r>
              <a:rPr lang="en-US" sz="1400" dirty="0"/>
              <a:t>, </a:t>
            </a:r>
            <a:r>
              <a:rPr lang="en-US" sz="1400" dirty="0" err="1"/>
              <a:t>arkasından</a:t>
            </a:r>
            <a:r>
              <a:rPr lang="en-US" sz="1400" dirty="0"/>
              <a:t> </a:t>
            </a:r>
            <a:r>
              <a:rPr lang="en-US" sz="1400" dirty="0" err="1"/>
              <a:t>boğuşma</a:t>
            </a:r>
            <a:r>
              <a:rPr lang="en-US" sz="1400" dirty="0"/>
              <a:t> </a:t>
            </a:r>
            <a:r>
              <a:rPr lang="en-US" sz="1400" dirty="0" err="1"/>
              <a:t>ve</a:t>
            </a:r>
            <a:r>
              <a:rPr lang="en-US" sz="1400" dirty="0"/>
              <a:t> </a:t>
            </a:r>
            <a:r>
              <a:rPr lang="en-US" sz="1400" dirty="0" err="1"/>
              <a:t>dö­vüşme</a:t>
            </a:r>
            <a:r>
              <a:rPr lang="en-US" sz="1400" dirty="0"/>
              <a:t> </a:t>
            </a:r>
            <a:r>
              <a:rPr lang="en-US" sz="1400" dirty="0" err="1"/>
              <a:t>dönemi</a:t>
            </a:r>
            <a:r>
              <a:rPr lang="en-US" sz="1400" dirty="0"/>
              <a:t> </a:t>
            </a:r>
            <a:r>
              <a:rPr lang="en-US" sz="1400" dirty="0" err="1"/>
              <a:t>geldi</a:t>
            </a:r>
            <a:r>
              <a:rPr lang="en-US" sz="1400" dirty="0"/>
              <a:t>. </a:t>
            </a:r>
            <a:r>
              <a:rPr lang="en-US" sz="1400" dirty="0" err="1"/>
              <a:t>Bozgun</a:t>
            </a:r>
            <a:r>
              <a:rPr lang="en-US" sz="1400" dirty="0"/>
              <a:t>, </a:t>
            </a:r>
            <a:r>
              <a:rPr lang="en-US" sz="1400" dirty="0" err="1"/>
              <a:t>ruhları</a:t>
            </a:r>
            <a:r>
              <a:rPr lang="en-US" sz="1400" dirty="0"/>
              <a:t> </a:t>
            </a:r>
            <a:r>
              <a:rPr lang="en-US" sz="1400" dirty="0" err="1"/>
              <a:t>sardı</a:t>
            </a:r>
            <a:r>
              <a:rPr lang="en-US" sz="1400" dirty="0"/>
              <a:t> </a:t>
            </a:r>
            <a:r>
              <a:rPr lang="en-US" sz="1400" dirty="0" err="1"/>
              <a:t>ve</a:t>
            </a:r>
            <a:r>
              <a:rPr lang="en-US" sz="1400" dirty="0"/>
              <a:t> -</a:t>
            </a:r>
            <a:r>
              <a:rPr lang="en-US" sz="1400" dirty="0" err="1">
                <a:solidFill>
                  <a:srgbClr val="C00000"/>
                </a:solidFill>
              </a:rPr>
              <a:t>nihayet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emânet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bazı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hay­vanların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yanında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insanların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yanındakinden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daha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değerli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oldu</a:t>
            </a:r>
            <a:r>
              <a:rPr lang="en-US" sz="1400" dirty="0">
                <a:solidFill>
                  <a:srgbClr val="C00000"/>
                </a:solidFill>
              </a:rPr>
              <a:t>. </a:t>
            </a:r>
            <a:r>
              <a:rPr lang="en-US" sz="1400" dirty="0" err="1"/>
              <a:t>Böylece</a:t>
            </a:r>
            <a:r>
              <a:rPr lang="en-US" sz="1400" dirty="0"/>
              <a:t> </a:t>
            </a:r>
            <a:r>
              <a:rPr lang="en-US" sz="1400" dirty="0" err="1"/>
              <a:t>insan</a:t>
            </a:r>
            <a:r>
              <a:rPr lang="en-US" sz="1400" dirty="0"/>
              <a:t> </a:t>
            </a:r>
            <a:r>
              <a:rPr lang="en-US" sz="1400" dirty="0" err="1"/>
              <a:t>fıtratının</a:t>
            </a:r>
            <a:r>
              <a:rPr lang="en-US" sz="1400" dirty="0"/>
              <a:t> </a:t>
            </a:r>
            <a:r>
              <a:rPr lang="en-US" sz="1400" dirty="0" err="1"/>
              <a:t>gereği</a:t>
            </a:r>
            <a:r>
              <a:rPr lang="en-US" sz="1400" dirty="0"/>
              <a:t> </a:t>
            </a:r>
            <a:r>
              <a:rPr lang="en-US" sz="1400" dirty="0" err="1"/>
              <a:t>olarak</a:t>
            </a:r>
            <a:r>
              <a:rPr lang="en-US" sz="1400" dirty="0"/>
              <a:t> </a:t>
            </a:r>
            <a:r>
              <a:rPr lang="en-US" sz="1400" dirty="0" err="1"/>
              <a:t>kendisine</a:t>
            </a:r>
            <a:r>
              <a:rPr lang="en-US" sz="1400" dirty="0"/>
              <a:t> </a:t>
            </a:r>
            <a:r>
              <a:rPr lang="en-US" sz="1400" dirty="0" err="1"/>
              <a:t>verilmiş</a:t>
            </a:r>
            <a:r>
              <a:rPr lang="en-US" sz="1400" dirty="0"/>
              <a:t> </a:t>
            </a:r>
            <a:r>
              <a:rPr lang="en-US" sz="1400" dirty="0" err="1"/>
              <a:t>olan</a:t>
            </a:r>
            <a:r>
              <a:rPr lang="en-US" sz="1400" dirty="0"/>
              <a:t> </a:t>
            </a:r>
            <a:r>
              <a:rPr lang="en-US" sz="1400" dirty="0" err="1"/>
              <a:t>mevkiden</a:t>
            </a:r>
            <a:r>
              <a:rPr lang="en-US" sz="1400" dirty="0"/>
              <a:t> </a:t>
            </a:r>
            <a:r>
              <a:rPr lang="en-US" sz="1400" dirty="0" err="1"/>
              <a:t>aşağı­ya</a:t>
            </a:r>
            <a:r>
              <a:rPr lang="en-US" sz="1400" dirty="0"/>
              <a:t> </a:t>
            </a:r>
            <a:r>
              <a:rPr lang="en-US" sz="1400" dirty="0" err="1"/>
              <a:t>yuvarlandı</a:t>
            </a:r>
            <a:r>
              <a:rPr lang="en-US" sz="1400" dirty="0"/>
              <a:t>. </a:t>
            </a:r>
            <a:endParaRPr lang="tr-TR" sz="1400" dirty="0"/>
          </a:p>
          <a:p>
            <a:r>
              <a:rPr lang="en-US" sz="1400" dirty="0"/>
              <a:t>Biz </a:t>
            </a:r>
            <a:r>
              <a:rPr lang="en-US" sz="1400" dirty="0" err="1"/>
              <a:t>onu</a:t>
            </a:r>
            <a:r>
              <a:rPr lang="en-US" sz="1400" dirty="0"/>
              <a:t> </a:t>
            </a:r>
            <a:r>
              <a:rPr lang="en-US" sz="1400" dirty="0" err="1"/>
              <a:t>kendinden</a:t>
            </a:r>
            <a:r>
              <a:rPr lang="en-US" sz="1400" dirty="0"/>
              <a:t> </a:t>
            </a:r>
            <a:r>
              <a:rPr lang="en-US" sz="1400" dirty="0" err="1"/>
              <a:t>çok</a:t>
            </a:r>
            <a:r>
              <a:rPr lang="en-US" sz="1400" dirty="0"/>
              <a:t> </a:t>
            </a:r>
            <a:r>
              <a:rPr lang="en-US" sz="1400" dirty="0" err="1"/>
              <a:t>daha</a:t>
            </a:r>
            <a:r>
              <a:rPr lang="en-US" sz="1400" dirty="0"/>
              <a:t> </a:t>
            </a:r>
            <a:r>
              <a:rPr lang="en-US" sz="1400" dirty="0" err="1"/>
              <a:t>aşağılarda</a:t>
            </a:r>
            <a:r>
              <a:rPr lang="en-US" sz="1400" dirty="0"/>
              <a:t> </a:t>
            </a:r>
            <a:r>
              <a:rPr lang="en-US" sz="1400" dirty="0" err="1"/>
              <a:t>bulunan</a:t>
            </a:r>
            <a:r>
              <a:rPr lang="en-US" sz="1400" dirty="0"/>
              <a:t> </a:t>
            </a:r>
            <a:r>
              <a:rPr lang="en-US" sz="1400" dirty="0" err="1"/>
              <a:t>birçok</a:t>
            </a:r>
            <a:r>
              <a:rPr lang="en-US" sz="1400" dirty="0"/>
              <a:t>, </a:t>
            </a:r>
            <a:r>
              <a:rPr lang="en-US" sz="1400" dirty="0" err="1"/>
              <a:t>hayvandan</a:t>
            </a:r>
            <a:r>
              <a:rPr lang="en-US" sz="1400" dirty="0"/>
              <a:t> </a:t>
            </a:r>
            <a:r>
              <a:rPr lang="en-US" sz="1400" dirty="0" err="1"/>
              <a:t>daha</a:t>
            </a:r>
            <a:r>
              <a:rPr lang="en-US" sz="1400" dirty="0"/>
              <a:t> </a:t>
            </a:r>
            <a:r>
              <a:rPr lang="en-US" sz="1400" dirty="0" err="1"/>
              <a:t>aşağıya</a:t>
            </a:r>
            <a:r>
              <a:rPr lang="en-US" sz="1400" dirty="0"/>
              <a:t> </a:t>
            </a:r>
            <a:r>
              <a:rPr lang="en-US" sz="1400" dirty="0" err="1"/>
              <a:t>düşürdük</a:t>
            </a:r>
            <a:r>
              <a:rPr lang="en-US" sz="1400" dirty="0"/>
              <a:t>. </a:t>
            </a:r>
            <a:r>
              <a:rPr lang="en-US" sz="1400" dirty="0" err="1"/>
              <a:t>Çünkü</a:t>
            </a:r>
            <a:r>
              <a:rPr lang="en-US" sz="1400" dirty="0"/>
              <a:t> </a:t>
            </a:r>
            <a:r>
              <a:rPr lang="en-US" sz="1400" dirty="0" err="1"/>
              <a:t>saldırgan</a:t>
            </a:r>
            <a:r>
              <a:rPr lang="en-US" sz="1400" dirty="0"/>
              <a:t> </a:t>
            </a:r>
            <a:r>
              <a:rPr lang="en-US" sz="1400" dirty="0" err="1"/>
              <a:t>bir</a:t>
            </a:r>
            <a:r>
              <a:rPr lang="en-US" sz="1400" dirty="0"/>
              <a:t> </a:t>
            </a:r>
            <a:r>
              <a:rPr lang="en-US" sz="1400" dirty="0" err="1"/>
              <a:t>hayvan</a:t>
            </a:r>
            <a:r>
              <a:rPr lang="en-US" sz="1400" dirty="0"/>
              <a:t>, </a:t>
            </a:r>
            <a:r>
              <a:rPr lang="en-US" sz="1400" dirty="0" err="1"/>
              <a:t>bu</a:t>
            </a:r>
            <a:r>
              <a:rPr lang="en-US" sz="1400" dirty="0"/>
              <a:t> </a:t>
            </a:r>
            <a:r>
              <a:rPr lang="en-US" sz="1400" dirty="0" err="1"/>
              <a:t>davranışını</a:t>
            </a:r>
            <a:r>
              <a:rPr lang="en-US" sz="1400" dirty="0"/>
              <a:t> </a:t>
            </a:r>
            <a:r>
              <a:rPr lang="en-US" sz="1400" dirty="0" err="1"/>
              <a:t>ancak</a:t>
            </a:r>
            <a:r>
              <a:rPr lang="en-US" sz="1400" dirty="0"/>
              <a:t> </a:t>
            </a:r>
            <a:r>
              <a:rPr lang="en-US" sz="1400" dirty="0" err="1"/>
              <a:t>fıtratından</a:t>
            </a:r>
            <a:r>
              <a:rPr lang="en-US" sz="1400" dirty="0"/>
              <a:t> </a:t>
            </a:r>
            <a:r>
              <a:rPr lang="en-US" sz="1400" dirty="0" err="1"/>
              <a:t>gelen</a:t>
            </a:r>
            <a:r>
              <a:rPr lang="en-US" sz="1400" dirty="0"/>
              <a:t> </a:t>
            </a:r>
            <a:r>
              <a:rPr lang="en-US" sz="1400" dirty="0" err="1"/>
              <a:t>içgüdü</a:t>
            </a:r>
            <a:r>
              <a:rPr lang="en-US" sz="1400" dirty="0"/>
              <a:t> </a:t>
            </a:r>
            <a:r>
              <a:rPr lang="en-US" sz="1400" dirty="0" err="1"/>
              <a:t>ile</a:t>
            </a:r>
            <a:r>
              <a:rPr lang="en-US" sz="1400" dirty="0"/>
              <a:t> </a:t>
            </a:r>
            <a:r>
              <a:rPr lang="en-US" sz="1400" dirty="0" err="1"/>
              <a:t>yapar</a:t>
            </a:r>
            <a:r>
              <a:rPr lang="en-US" sz="1400" dirty="0">
                <a:solidFill>
                  <a:srgbClr val="C00000"/>
                </a:solidFill>
              </a:rPr>
              <a:t>. O </a:t>
            </a:r>
            <a:r>
              <a:rPr lang="en-US" sz="1400" dirty="0" err="1">
                <a:solidFill>
                  <a:srgbClr val="C00000"/>
                </a:solidFill>
              </a:rPr>
              <a:t>hayvan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bu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davranışından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dolayı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varlıktaki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mertebesinden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aşa­ğıya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düşüp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değerini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yitirmez</a:t>
            </a:r>
            <a:r>
              <a:rPr lang="en-US" sz="1400" dirty="0"/>
              <a:t>. İnsana </a:t>
            </a:r>
            <a:r>
              <a:rPr lang="en-US" sz="1400" dirty="0" err="1"/>
              <a:t>gelince</a:t>
            </a:r>
            <a:r>
              <a:rPr lang="en-US" sz="1400" dirty="0"/>
              <a:t>; o</a:t>
            </a:r>
            <a:r>
              <a:rPr lang="en-US" sz="1400" dirty="0">
                <a:solidFill>
                  <a:srgbClr val="C00000"/>
                </a:solidFill>
              </a:rPr>
              <a:t>, </a:t>
            </a:r>
            <a:r>
              <a:rPr lang="en-US" sz="1400" dirty="0" err="1">
                <a:solidFill>
                  <a:srgbClr val="C00000"/>
                </a:solidFill>
              </a:rPr>
              <a:t>aklını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ihmâl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etmesi</a:t>
            </a:r>
            <a:r>
              <a:rPr lang="en-US" sz="1400" dirty="0">
                <a:solidFill>
                  <a:srgbClr val="C00000"/>
                </a:solidFill>
              </a:rPr>
              <a:t> hem </a:t>
            </a:r>
            <a:r>
              <a:rPr lang="en-US" sz="1400" dirty="0" err="1">
                <a:solidFill>
                  <a:srgbClr val="C00000"/>
                </a:solidFill>
              </a:rPr>
              <a:t>kendi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mutluluğunu</a:t>
            </a:r>
            <a:r>
              <a:rPr lang="en-US" sz="1400" dirty="0">
                <a:solidFill>
                  <a:srgbClr val="C00000"/>
                </a:solidFill>
              </a:rPr>
              <a:t>, hem de </a:t>
            </a:r>
            <a:r>
              <a:rPr lang="en-US" sz="1400" dirty="0" err="1">
                <a:solidFill>
                  <a:srgbClr val="C00000"/>
                </a:solidFill>
              </a:rPr>
              <a:t>kardeşlerinin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mutluluğunu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kazanmak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için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yapması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gereken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şeyleri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bilmemesi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nedeniyle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diğer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canlılardan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daha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aşa­ğı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duruma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 err="1">
                <a:solidFill>
                  <a:srgbClr val="C00000"/>
                </a:solidFill>
              </a:rPr>
              <a:t>düşmüştür</a:t>
            </a:r>
            <a:r>
              <a:rPr lang="en-US" sz="1400" dirty="0">
                <a:solidFill>
                  <a:srgbClr val="C00000"/>
                </a:solidFill>
              </a:rPr>
              <a:t>.</a:t>
            </a:r>
            <a:r>
              <a:rPr lang="en-US" sz="1400" dirty="0"/>
              <a:t> </a:t>
            </a:r>
            <a:r>
              <a:rPr lang="en-US" sz="1400" dirty="0" err="1"/>
              <a:t>Nitekim</a:t>
            </a:r>
            <a:r>
              <a:rPr lang="en-US" sz="1400" dirty="0"/>
              <a:t> </a:t>
            </a:r>
            <a:r>
              <a:rPr lang="en-US" sz="1400" dirty="0" err="1"/>
              <a:t>çoğu</a:t>
            </a:r>
            <a:r>
              <a:rPr lang="en-US" sz="1400" dirty="0"/>
              <a:t> </a:t>
            </a:r>
            <a:r>
              <a:rPr lang="en-US" sz="1400" dirty="0" err="1"/>
              <a:t>kere</a:t>
            </a:r>
            <a:r>
              <a:rPr lang="en-US" sz="1400" dirty="0"/>
              <a:t>; </a:t>
            </a:r>
            <a:r>
              <a:rPr lang="en-US" sz="1400" dirty="0" err="1"/>
              <a:t>insan</a:t>
            </a:r>
            <a:r>
              <a:rPr lang="en-US" sz="1400" dirty="0"/>
              <a:t> </a:t>
            </a:r>
            <a:r>
              <a:rPr lang="en-US" sz="1400" dirty="0" err="1"/>
              <a:t>bozulunca</a:t>
            </a:r>
            <a:r>
              <a:rPr lang="en-US" sz="1400" dirty="0"/>
              <a:t>, </a:t>
            </a:r>
            <a:r>
              <a:rPr lang="en-US" sz="1400" dirty="0" err="1"/>
              <a:t>ondan</a:t>
            </a:r>
            <a:r>
              <a:rPr lang="en-US" sz="1400" dirty="0"/>
              <a:t> </a:t>
            </a:r>
            <a:r>
              <a:rPr lang="en-US" sz="1400" dirty="0" err="1"/>
              <a:t>su­dur</a:t>
            </a:r>
            <a:r>
              <a:rPr lang="en-US" sz="1400" dirty="0"/>
              <a:t> </a:t>
            </a:r>
            <a:r>
              <a:rPr lang="en-US" sz="1400" dirty="0" err="1"/>
              <a:t>edecek</a:t>
            </a:r>
            <a:r>
              <a:rPr lang="en-US" sz="1400" dirty="0"/>
              <a:t> </a:t>
            </a:r>
            <a:r>
              <a:rPr lang="en-US" sz="1400" dirty="0" err="1"/>
              <a:t>düşmanlık</a:t>
            </a:r>
            <a:r>
              <a:rPr lang="en-US" sz="1400" dirty="0"/>
              <a:t> </a:t>
            </a:r>
            <a:r>
              <a:rPr lang="en-US" sz="1400" dirty="0" err="1"/>
              <a:t>ve</a:t>
            </a:r>
            <a:r>
              <a:rPr lang="en-US" sz="1400" dirty="0"/>
              <a:t> </a:t>
            </a:r>
            <a:r>
              <a:rPr lang="en-US" sz="1400" dirty="0" err="1"/>
              <a:t>hezeyandan</a:t>
            </a:r>
            <a:r>
              <a:rPr lang="en-US" sz="1400" dirty="0"/>
              <a:t> </a:t>
            </a:r>
            <a:r>
              <a:rPr lang="en-US" sz="1400" dirty="0" err="1"/>
              <a:t>hiç</a:t>
            </a:r>
            <a:r>
              <a:rPr lang="en-US" sz="1400" dirty="0"/>
              <a:t> </a:t>
            </a:r>
            <a:r>
              <a:rPr lang="en-US" sz="1400" dirty="0" err="1"/>
              <a:t>bahsetme</a:t>
            </a:r>
            <a:r>
              <a:rPr lang="en-US" sz="1400" dirty="0"/>
              <a:t>, </a:t>
            </a:r>
            <a:r>
              <a:rPr lang="en-US" sz="1400" dirty="0" err="1"/>
              <a:t>denmiştir</a:t>
            </a:r>
            <a:r>
              <a:rPr lang="en-US" sz="1400" dirty="0"/>
              <a:t>.</a:t>
            </a:r>
          </a:p>
          <a:p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E7AA64-CBEE-A135-FD48-6D6B45A8642F}"/>
              </a:ext>
            </a:extLst>
          </p:cNvPr>
          <p:cNvSpPr txBox="1"/>
          <p:nvPr/>
        </p:nvSpPr>
        <p:spPr>
          <a:xfrm>
            <a:off x="4810260" y="511388"/>
            <a:ext cx="663802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Sonra </a:t>
            </a:r>
            <a:r>
              <a:rPr lang="en-US" sz="2500" dirty="0" err="1"/>
              <a:t>onu</a:t>
            </a:r>
            <a:r>
              <a:rPr lang="en-US" sz="2500" dirty="0"/>
              <a:t>, </a:t>
            </a:r>
            <a:r>
              <a:rPr lang="en-US" sz="2500" dirty="0" err="1"/>
              <a:t>aşağıların</a:t>
            </a:r>
            <a:r>
              <a:rPr lang="en-US" sz="2500" dirty="0"/>
              <a:t> </a:t>
            </a:r>
            <a:r>
              <a:rPr lang="en-US" sz="2500" dirty="0" err="1"/>
              <a:t>aşağısına</a:t>
            </a:r>
            <a:r>
              <a:rPr lang="en-US" sz="2500" dirty="0"/>
              <a:t> </a:t>
            </a:r>
            <a:r>
              <a:rPr lang="en-US" sz="2500" dirty="0" err="1"/>
              <a:t>döndürdük</a:t>
            </a:r>
            <a:r>
              <a:rPr lang="en-US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2498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F150C-7342-1CCD-86C1-938501EE9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CAS</a:t>
            </a:r>
            <a:r>
              <a:rPr lang="tr-TR" sz="4000" dirty="0">
                <a:solidFill>
                  <a:srgbClr val="FFFFFF"/>
                </a:solidFill>
              </a:rPr>
              <a:t>İYE SURESİ 13. AYET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812F8-C26F-B8B3-1BF7-1B606FE33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695" y="1768025"/>
            <a:ext cx="7615758" cy="455846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Allah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Teâlâ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kullarına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olan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nimetleri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zikrediyor</a:t>
            </a:r>
            <a:r>
              <a:rPr lang="tr-TR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Göklerde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olan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u="sng" dirty="0" err="1">
                <a:solidFill>
                  <a:schemeClr val="accent2">
                    <a:lumMod val="75000"/>
                  </a:schemeClr>
                </a:solidFill>
              </a:rPr>
              <a:t>yıldızları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yerde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olan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u="sng" dirty="0" err="1">
                <a:solidFill>
                  <a:schemeClr val="accent2">
                    <a:lumMod val="75000"/>
                  </a:schemeClr>
                </a:solidFill>
              </a:rPr>
              <a:t>dağla</a:t>
            </a:r>
            <a:r>
              <a:rPr lang="tr-TR" b="1" u="sng" dirty="0">
                <a:solidFill>
                  <a:schemeClr val="accent2">
                    <a:lumMod val="75000"/>
                  </a:schemeClr>
                </a:solidFill>
              </a:rPr>
              <a:t>rı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 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denizleri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nehirleri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ve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istifâde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ettiğiniz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her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şeyi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size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müsahhar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kılmış­tır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endParaRPr lang="tr-T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Artık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uzak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ik­limler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ufuklardan</a:t>
            </a:r>
            <a:r>
              <a:rPr lang="en-US" dirty="0">
                <a:solidFill>
                  <a:srgbClr val="0070C0"/>
                </a:solidFill>
              </a:rPr>
              <a:t> size </a:t>
            </a:r>
            <a:r>
              <a:rPr lang="en-US" dirty="0" err="1">
                <a:solidFill>
                  <a:srgbClr val="0070C0"/>
                </a:solidFill>
              </a:rPr>
              <a:t>celbedilip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getirilen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faydaların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husulünü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gö­rerek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belki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şükredersiniz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tr-TR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 err="1">
                <a:solidFill>
                  <a:srgbClr val="0070C0"/>
                </a:solidFill>
              </a:rPr>
              <a:t>Bütün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bunlar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O'nun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lutfu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ihsanı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bağışlamasıyladır</a:t>
            </a:r>
            <a:r>
              <a:rPr lang="en-US" dirty="0">
                <a:solidFill>
                  <a:srgbClr val="0070C0"/>
                </a:solidFill>
              </a:rPr>
              <a:t>. </a:t>
            </a:r>
            <a:r>
              <a:rPr lang="en-US" dirty="0" err="1">
                <a:solidFill>
                  <a:srgbClr val="0070C0"/>
                </a:solidFill>
              </a:rPr>
              <a:t>Bunların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hepsi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tek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ortağı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olmayan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Alla</a:t>
            </a:r>
            <a:r>
              <a:rPr lang="tr-TR" dirty="0">
                <a:solidFill>
                  <a:srgbClr val="0070C0"/>
                </a:solidFill>
              </a:rPr>
              <a:t>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katındandır</a:t>
            </a:r>
            <a:r>
              <a:rPr lang="en-US" dirty="0">
                <a:solidFill>
                  <a:srgbClr val="0070C0"/>
                </a:solidFill>
              </a:rPr>
              <a:t>.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2101F-078F-7FF9-3A11-AE3FEBAB4296}"/>
              </a:ext>
            </a:extLst>
          </p:cNvPr>
          <p:cNvSpPr txBox="1"/>
          <p:nvPr/>
        </p:nvSpPr>
        <p:spPr>
          <a:xfrm>
            <a:off x="4367695" y="260765"/>
            <a:ext cx="761575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err="1">
                <a:solidFill>
                  <a:schemeClr val="accent2">
                    <a:lumMod val="75000"/>
                  </a:schemeClr>
                </a:solidFill>
              </a:rPr>
              <a:t>Göklerde</a:t>
            </a:r>
            <a:r>
              <a:rPr lang="en-US" sz="2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accent2">
                    <a:lumMod val="75000"/>
                  </a:schemeClr>
                </a:solidFill>
              </a:rPr>
              <a:t>olanları</a:t>
            </a:r>
            <a:r>
              <a:rPr lang="en-US" sz="25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sz="2500" dirty="0" err="1">
                <a:solidFill>
                  <a:schemeClr val="accent2">
                    <a:lumMod val="75000"/>
                  </a:schemeClr>
                </a:solidFill>
              </a:rPr>
              <a:t>yerde</a:t>
            </a:r>
            <a:r>
              <a:rPr lang="en-US" sz="2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accent2">
                    <a:lumMod val="75000"/>
                  </a:schemeClr>
                </a:solidFill>
              </a:rPr>
              <a:t>olanları</a:t>
            </a:r>
            <a:r>
              <a:rPr lang="en-US" sz="25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sz="2500" dirty="0" err="1">
                <a:solidFill>
                  <a:schemeClr val="accent2">
                    <a:lumMod val="75000"/>
                  </a:schemeClr>
                </a:solidFill>
              </a:rPr>
              <a:t>hepsini</a:t>
            </a:r>
            <a:r>
              <a:rPr lang="en-US" sz="2500" dirty="0">
                <a:solidFill>
                  <a:schemeClr val="accent2">
                    <a:lumMod val="75000"/>
                  </a:schemeClr>
                </a:solidFill>
              </a:rPr>
              <a:t> size </a:t>
            </a:r>
            <a:r>
              <a:rPr lang="en-US" sz="2500" dirty="0" err="1">
                <a:solidFill>
                  <a:schemeClr val="accent2">
                    <a:lumMod val="75000"/>
                  </a:schemeClr>
                </a:solidFill>
              </a:rPr>
              <a:t>mü-sahhar</a:t>
            </a:r>
            <a:r>
              <a:rPr lang="en-US" sz="25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accent2">
                    <a:lumMod val="75000"/>
                  </a:schemeClr>
                </a:solidFill>
              </a:rPr>
              <a:t>kılmıştır</a:t>
            </a:r>
            <a:r>
              <a:rPr lang="en-US" sz="2500" dirty="0"/>
              <a:t>. </a:t>
            </a:r>
            <a:r>
              <a:rPr lang="en-US" sz="2500" dirty="0" err="1">
                <a:solidFill>
                  <a:schemeClr val="accent4"/>
                </a:solidFill>
              </a:rPr>
              <a:t>Elbette</a:t>
            </a:r>
            <a:r>
              <a:rPr lang="en-US" sz="2500" dirty="0">
                <a:solidFill>
                  <a:schemeClr val="accent4"/>
                </a:solidFill>
              </a:rPr>
              <a:t> ki </a:t>
            </a:r>
            <a:r>
              <a:rPr lang="en-US" sz="2500" b="1" dirty="0" err="1">
                <a:solidFill>
                  <a:schemeClr val="accent4"/>
                </a:solidFill>
              </a:rPr>
              <a:t>düşünen</a:t>
            </a:r>
            <a:r>
              <a:rPr lang="en-US" sz="2500" b="1" dirty="0">
                <a:solidFill>
                  <a:schemeClr val="accent4"/>
                </a:solidFill>
              </a:rPr>
              <a:t> </a:t>
            </a:r>
            <a:r>
              <a:rPr lang="en-US" sz="2500" b="1" dirty="0" err="1">
                <a:solidFill>
                  <a:schemeClr val="accent4"/>
                </a:solidFill>
              </a:rPr>
              <a:t>bir</a:t>
            </a:r>
            <a:r>
              <a:rPr lang="en-US" sz="2500" b="1" dirty="0">
                <a:solidFill>
                  <a:schemeClr val="accent4"/>
                </a:solidFill>
              </a:rPr>
              <a:t> </a:t>
            </a:r>
            <a:r>
              <a:rPr lang="en-US" sz="2500" b="1" dirty="0" err="1">
                <a:solidFill>
                  <a:schemeClr val="accent4"/>
                </a:solidFill>
              </a:rPr>
              <a:t>kavim</a:t>
            </a:r>
            <a:r>
              <a:rPr lang="en-US" sz="2500" b="1" dirty="0">
                <a:solidFill>
                  <a:schemeClr val="accent4"/>
                </a:solidFill>
              </a:rPr>
              <a:t> </a:t>
            </a:r>
            <a:r>
              <a:rPr lang="en-US" sz="2500" dirty="0" err="1">
                <a:solidFill>
                  <a:schemeClr val="accent4"/>
                </a:solidFill>
              </a:rPr>
              <a:t>için</a:t>
            </a:r>
            <a:r>
              <a:rPr lang="en-US" sz="2500" dirty="0">
                <a:solidFill>
                  <a:schemeClr val="accent4"/>
                </a:solidFill>
              </a:rPr>
              <a:t> </a:t>
            </a:r>
            <a:r>
              <a:rPr lang="en-US" sz="2500" dirty="0" err="1">
                <a:solidFill>
                  <a:schemeClr val="accent4"/>
                </a:solidFill>
              </a:rPr>
              <a:t>bunda</a:t>
            </a:r>
            <a:r>
              <a:rPr lang="en-US" sz="2500" dirty="0">
                <a:solidFill>
                  <a:schemeClr val="accent4"/>
                </a:solidFill>
              </a:rPr>
              <a:t> </a:t>
            </a:r>
            <a:r>
              <a:rPr lang="en-US" sz="2500" dirty="0" err="1">
                <a:solidFill>
                  <a:schemeClr val="accent4"/>
                </a:solidFill>
              </a:rPr>
              <a:t>âyetler</a:t>
            </a:r>
            <a:r>
              <a:rPr lang="en-US" sz="2500" dirty="0">
                <a:solidFill>
                  <a:schemeClr val="accent4"/>
                </a:solidFill>
              </a:rPr>
              <a:t> </a:t>
            </a:r>
            <a:r>
              <a:rPr lang="en-US" sz="2500" dirty="0" err="1">
                <a:solidFill>
                  <a:schemeClr val="accent4"/>
                </a:solidFill>
              </a:rPr>
              <a:t>vardır</a:t>
            </a:r>
            <a:r>
              <a:rPr lang="en-US" sz="2500" dirty="0">
                <a:solidFill>
                  <a:schemeClr val="accent4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7719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A78589-4D71-E20A-D16D-2A77F182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tr-TR" sz="4000" dirty="0">
                <a:solidFill>
                  <a:srgbClr val="FFFFFF"/>
                </a:solidFill>
              </a:rPr>
              <a:t>HAC SURESİ 65. AYET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D9A8C-37A8-26FA-5195-BD6F9B95A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158" y="1719072"/>
            <a:ext cx="7603957" cy="4626864"/>
          </a:xfrm>
        </p:spPr>
        <p:txBody>
          <a:bodyPr anchor="ctr">
            <a:noAutofit/>
          </a:bodyPr>
          <a:lstStyle/>
          <a:p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Görmedin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mi, Allah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yer­de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olan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hayvanları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cansızları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ekin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ve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meyve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 la</a:t>
            </a:r>
            <a:r>
              <a:rPr lang="tr-TR" sz="2000" dirty="0">
                <a:solidFill>
                  <a:schemeClr val="accent2">
                    <a:lumMod val="75000"/>
                  </a:schemeClr>
                </a:solidFill>
              </a:rPr>
              <a:t>rı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buyruğunuz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altı­na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vermiştir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«(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İh­sanı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fazlı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ve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nimetinden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olarak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emriyle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(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rüzgârlı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dalgaları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birbirine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çarpan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denizde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(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müsahhar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kılması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ve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yürütmesi</a:t>
            </a:r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u="sng" dirty="0" err="1">
                <a:solidFill>
                  <a:schemeClr val="accent2">
                    <a:lumMod val="75000"/>
                  </a:schemeClr>
                </a:solidFill>
              </a:rPr>
              <a:t>ile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akıp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giden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ge­mileri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buyruğunuz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altına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vermiştir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.»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Gemiler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üzerlerinde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olanları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hoş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bir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rüzgârla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yumuşaklıkla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götürür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gemilerde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dilemiş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ol­dukları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ticâret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eşyalarını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ve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menfaatlarını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tr-TR" sz="2000" dirty="0">
                <a:solidFill>
                  <a:schemeClr val="accent2">
                    <a:lumMod val="75000"/>
                  </a:schemeClr>
                </a:solidFill>
              </a:rPr>
              <a:t>bir yerden başka bir yere taşırlar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endParaRPr lang="tr-TR" sz="2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000" dirty="0" err="1">
                <a:solidFill>
                  <a:srgbClr val="0070C0"/>
                </a:solidFill>
              </a:rPr>
              <a:t>Şayet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dileyip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göğe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b="1" u="sng" dirty="0" err="1">
                <a:solidFill>
                  <a:srgbClr val="0070C0"/>
                </a:solidFill>
              </a:rPr>
              <a:t>izin</a:t>
            </a:r>
            <a:r>
              <a:rPr lang="en-US" sz="2000" b="1" u="sng" dirty="0">
                <a:solidFill>
                  <a:srgbClr val="0070C0"/>
                </a:solidFill>
              </a:rPr>
              <a:t> </a:t>
            </a:r>
            <a:r>
              <a:rPr lang="en-US" sz="2000" b="1" u="sng" dirty="0" err="1">
                <a:solidFill>
                  <a:srgbClr val="0070C0"/>
                </a:solidFill>
              </a:rPr>
              <a:t>vermiş</a:t>
            </a:r>
            <a:r>
              <a:rPr lang="en-US" sz="2000" b="1" u="sng" dirty="0">
                <a:solidFill>
                  <a:srgbClr val="0070C0"/>
                </a:solidFill>
              </a:rPr>
              <a:t> </a:t>
            </a:r>
            <a:r>
              <a:rPr lang="en-US" sz="2000" b="1" u="sng" dirty="0" err="1">
                <a:solidFill>
                  <a:srgbClr val="0070C0"/>
                </a:solidFill>
              </a:rPr>
              <a:t>olsaydı</a:t>
            </a:r>
            <a:r>
              <a:rPr lang="en-US" sz="2000" dirty="0">
                <a:solidFill>
                  <a:srgbClr val="0070C0"/>
                </a:solidFill>
              </a:rPr>
              <a:t>, </a:t>
            </a:r>
            <a:r>
              <a:rPr lang="en-US" sz="2000" dirty="0" err="1">
                <a:solidFill>
                  <a:srgbClr val="0070C0"/>
                </a:solidFill>
              </a:rPr>
              <a:t>yeryüzüne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düşer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ve</a:t>
            </a:r>
            <a:r>
              <a:rPr lang="en-US" sz="2000" dirty="0">
                <a:solidFill>
                  <a:srgbClr val="0070C0"/>
                </a:solidFill>
              </a:rPr>
              <a:t> on-</a:t>
            </a:r>
            <a:r>
              <a:rPr lang="en-US" sz="2000" dirty="0" err="1">
                <a:solidFill>
                  <a:srgbClr val="0070C0"/>
                </a:solidFill>
              </a:rPr>
              <a:t>dakileri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helak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ederdi</a:t>
            </a:r>
            <a:r>
              <a:rPr lang="en-US" sz="2000" dirty="0">
                <a:solidFill>
                  <a:srgbClr val="0070C0"/>
                </a:solidFill>
              </a:rPr>
              <a:t>. </a:t>
            </a:r>
            <a:r>
              <a:rPr lang="en-US" sz="2000" dirty="0" err="1">
                <a:solidFill>
                  <a:srgbClr val="0070C0"/>
                </a:solidFill>
              </a:rPr>
              <a:t>Fakat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lutfu</a:t>
            </a:r>
            <a:r>
              <a:rPr lang="en-US" sz="2000" dirty="0">
                <a:solidFill>
                  <a:srgbClr val="0070C0"/>
                </a:solidFill>
              </a:rPr>
              <a:t>, </a:t>
            </a:r>
            <a:r>
              <a:rPr lang="en-US" sz="2000" dirty="0" err="1">
                <a:solidFill>
                  <a:srgbClr val="0070C0"/>
                </a:solidFill>
              </a:rPr>
              <a:t>rahmeti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ve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kudretinden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olarak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gö­ğü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buyruğu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olmadıkça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yeryüzüne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düşmemesi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için</a:t>
            </a:r>
            <a:r>
              <a:rPr lang="en-US" sz="2000" dirty="0">
                <a:solidFill>
                  <a:srgbClr val="0070C0"/>
                </a:solidFill>
              </a:rPr>
              <a:t> O </a:t>
            </a:r>
            <a:r>
              <a:rPr lang="en-US" sz="2000" dirty="0" err="1">
                <a:solidFill>
                  <a:srgbClr val="0070C0"/>
                </a:solidFill>
              </a:rPr>
              <a:t>tutar</a:t>
            </a:r>
            <a:r>
              <a:rPr lang="en-US" sz="2000" dirty="0">
                <a:solidFill>
                  <a:srgbClr val="0070C0"/>
                </a:solidFill>
              </a:rPr>
              <a:t>. Bu </a:t>
            </a:r>
            <a:r>
              <a:rPr lang="en-US" sz="2000" dirty="0" err="1">
                <a:solidFill>
                  <a:srgbClr val="0070C0"/>
                </a:solidFill>
              </a:rPr>
              <a:t>sebep­ledir</a:t>
            </a:r>
            <a:r>
              <a:rPr lang="en-US" sz="2000" dirty="0">
                <a:solidFill>
                  <a:srgbClr val="0070C0"/>
                </a:solidFill>
              </a:rPr>
              <a:t> ki: «</a:t>
            </a:r>
            <a:r>
              <a:rPr lang="en-US" sz="2000" dirty="0" err="1">
                <a:solidFill>
                  <a:srgbClr val="0070C0"/>
                </a:solidFill>
              </a:rPr>
              <a:t>Doğrusu</a:t>
            </a:r>
            <a:r>
              <a:rPr lang="en-US" sz="2000" dirty="0">
                <a:solidFill>
                  <a:srgbClr val="0070C0"/>
                </a:solidFill>
              </a:rPr>
              <a:t> Allah </a:t>
            </a:r>
            <a:r>
              <a:rPr lang="en-US" sz="2000" dirty="0" err="1">
                <a:solidFill>
                  <a:srgbClr val="0070C0"/>
                </a:solidFill>
              </a:rPr>
              <a:t>insanlara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karşı</a:t>
            </a:r>
            <a:r>
              <a:rPr lang="en-US" sz="2000" dirty="0">
                <a:solidFill>
                  <a:srgbClr val="0070C0"/>
                </a:solidFill>
              </a:rPr>
              <a:t> (</a:t>
            </a:r>
            <a:r>
              <a:rPr lang="en-US" sz="2000" b="1" u="sng" dirty="0" err="1">
                <a:solidFill>
                  <a:srgbClr val="0070C0"/>
                </a:solidFill>
              </a:rPr>
              <a:t>onların</a:t>
            </a:r>
            <a:r>
              <a:rPr lang="en-US" sz="2000" b="1" u="sng" dirty="0">
                <a:solidFill>
                  <a:srgbClr val="0070C0"/>
                </a:solidFill>
              </a:rPr>
              <a:t> </a:t>
            </a:r>
            <a:r>
              <a:rPr lang="en-US" sz="2000" b="1" u="sng" dirty="0" err="1">
                <a:solidFill>
                  <a:srgbClr val="0070C0"/>
                </a:solidFill>
              </a:rPr>
              <a:t>zulümlerine</a:t>
            </a:r>
            <a:r>
              <a:rPr lang="en-US" sz="2000" b="1" u="sng" dirty="0">
                <a:solidFill>
                  <a:srgbClr val="0070C0"/>
                </a:solidFill>
              </a:rPr>
              <a:t> </a:t>
            </a:r>
            <a:r>
              <a:rPr lang="en-US" sz="2000" b="1" u="sng" dirty="0" err="1">
                <a:solidFill>
                  <a:srgbClr val="0070C0"/>
                </a:solidFill>
              </a:rPr>
              <a:t>rağmen</a:t>
            </a:r>
            <a:r>
              <a:rPr lang="en-US" sz="2000" dirty="0">
                <a:solidFill>
                  <a:srgbClr val="0070C0"/>
                </a:solidFill>
              </a:rPr>
              <a:t>) </a:t>
            </a:r>
            <a:r>
              <a:rPr lang="en-US" sz="2000" dirty="0" err="1">
                <a:solidFill>
                  <a:srgbClr val="0070C0"/>
                </a:solidFill>
              </a:rPr>
              <a:t>Rauf'tur</a:t>
            </a:r>
            <a:r>
              <a:rPr lang="en-US" sz="2000" dirty="0">
                <a:solidFill>
                  <a:srgbClr val="0070C0"/>
                </a:solidFill>
              </a:rPr>
              <a:t>, </a:t>
            </a:r>
            <a:r>
              <a:rPr lang="en-US" sz="2000" dirty="0" err="1">
                <a:solidFill>
                  <a:srgbClr val="0070C0"/>
                </a:solidFill>
              </a:rPr>
              <a:t>Rahîm'dir</a:t>
            </a:r>
            <a:r>
              <a:rPr lang="en-US" sz="2000" dirty="0">
                <a:solidFill>
                  <a:srgbClr val="0070C0"/>
                </a:solidFill>
              </a:rPr>
              <a:t>.» </a:t>
            </a:r>
            <a:r>
              <a:rPr lang="en-US" sz="2000" dirty="0" err="1">
                <a:solidFill>
                  <a:srgbClr val="0070C0"/>
                </a:solidFill>
              </a:rPr>
              <a:t>buyurmuştur</a:t>
            </a:r>
            <a:r>
              <a:rPr lang="en-US" sz="2000" dirty="0">
                <a:solidFill>
                  <a:srgbClr val="0070C0"/>
                </a:solidFill>
              </a:rPr>
              <a:t>.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2F4AE-3F4F-C281-9564-E62A42D0B673}"/>
              </a:ext>
            </a:extLst>
          </p:cNvPr>
          <p:cNvSpPr txBox="1"/>
          <p:nvPr/>
        </p:nvSpPr>
        <p:spPr>
          <a:xfrm>
            <a:off x="4251157" y="511388"/>
            <a:ext cx="7603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Görmedin</a:t>
            </a:r>
            <a:r>
              <a:rPr lang="en-US" dirty="0">
                <a:solidFill>
                  <a:schemeClr val="accent2"/>
                </a:solidFill>
              </a:rPr>
              <a:t> mi, Allah </a:t>
            </a:r>
            <a:r>
              <a:rPr lang="en-US" dirty="0" err="1">
                <a:solidFill>
                  <a:schemeClr val="accent2"/>
                </a:solidFill>
              </a:rPr>
              <a:t>yerde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olanları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ve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emriyle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denizde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akıp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giden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b="1" u="sng" dirty="0" err="1">
                <a:solidFill>
                  <a:schemeClr val="accent2"/>
                </a:solidFill>
              </a:rPr>
              <a:t>gemileri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buyruğunuz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altına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vermiştir</a:t>
            </a:r>
            <a:r>
              <a:rPr lang="en-US" dirty="0">
                <a:solidFill>
                  <a:schemeClr val="accent1"/>
                </a:solidFill>
              </a:rPr>
              <a:t>. </a:t>
            </a:r>
            <a:r>
              <a:rPr lang="en-US" dirty="0" err="1">
                <a:solidFill>
                  <a:schemeClr val="accent1"/>
                </a:solidFill>
              </a:rPr>
              <a:t>îzni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olmadıkça</a:t>
            </a:r>
            <a:r>
              <a:rPr lang="en-US" b="1" u="sng" dirty="0">
                <a:solidFill>
                  <a:schemeClr val="accent1"/>
                </a:solidFill>
              </a:rPr>
              <a:t>, </a:t>
            </a:r>
            <a:r>
              <a:rPr lang="en-US" b="1" u="sng" dirty="0" err="1">
                <a:solidFill>
                  <a:schemeClr val="accent1"/>
                </a:solidFill>
              </a:rPr>
              <a:t>göğü</a:t>
            </a:r>
            <a:r>
              <a:rPr lang="en-US" b="1" u="sng" dirty="0">
                <a:solidFill>
                  <a:schemeClr val="accent1"/>
                </a:solidFill>
              </a:rPr>
              <a:t> </a:t>
            </a:r>
            <a:r>
              <a:rPr lang="en-US" b="1" u="sng" dirty="0" err="1">
                <a:solidFill>
                  <a:schemeClr val="accent1"/>
                </a:solidFill>
              </a:rPr>
              <a:t>yerin</a:t>
            </a:r>
            <a:r>
              <a:rPr lang="en-US" b="1" u="sng" dirty="0">
                <a:solidFill>
                  <a:schemeClr val="accent1"/>
                </a:solidFill>
              </a:rPr>
              <a:t> </a:t>
            </a:r>
            <a:r>
              <a:rPr lang="en-US" b="1" u="sng" dirty="0" err="1">
                <a:solidFill>
                  <a:schemeClr val="accent1"/>
                </a:solidFill>
              </a:rPr>
              <a:t>üzerine</a:t>
            </a:r>
            <a:r>
              <a:rPr lang="en-US" b="1" u="sng" dirty="0">
                <a:solidFill>
                  <a:schemeClr val="accent1"/>
                </a:solidFill>
              </a:rPr>
              <a:t> </a:t>
            </a:r>
            <a:r>
              <a:rPr lang="en-US" b="1" u="sng" dirty="0" err="1">
                <a:solidFill>
                  <a:schemeClr val="accent1"/>
                </a:solidFill>
              </a:rPr>
              <a:t>düşmemesi</a:t>
            </a:r>
            <a:r>
              <a:rPr lang="en-US" b="1" u="sng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için</a:t>
            </a:r>
            <a:r>
              <a:rPr lang="en-US" dirty="0">
                <a:solidFill>
                  <a:schemeClr val="accent1"/>
                </a:solidFill>
              </a:rPr>
              <a:t> O </a:t>
            </a:r>
            <a:r>
              <a:rPr lang="en-US" dirty="0" err="1">
                <a:solidFill>
                  <a:schemeClr val="accent1"/>
                </a:solidFill>
              </a:rPr>
              <a:t>tu­tar</a:t>
            </a:r>
            <a:r>
              <a:rPr lang="en-US" dirty="0">
                <a:solidFill>
                  <a:schemeClr val="accent1"/>
                </a:solidFill>
              </a:rPr>
              <a:t>. </a:t>
            </a:r>
            <a:r>
              <a:rPr lang="en-US" dirty="0" err="1">
                <a:solidFill>
                  <a:schemeClr val="accent1"/>
                </a:solidFill>
              </a:rPr>
              <a:t>Doğrusu</a:t>
            </a:r>
            <a:r>
              <a:rPr lang="en-US" dirty="0">
                <a:solidFill>
                  <a:schemeClr val="accent1"/>
                </a:solidFill>
              </a:rPr>
              <a:t> Allah, </a:t>
            </a:r>
            <a:r>
              <a:rPr lang="en-US" dirty="0" err="1">
                <a:solidFill>
                  <a:schemeClr val="accent1"/>
                </a:solidFill>
              </a:rPr>
              <a:t>insanlara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karşı</a:t>
            </a:r>
            <a:r>
              <a:rPr lang="en-US" dirty="0">
                <a:solidFill>
                  <a:schemeClr val="accent1"/>
                </a:solidFill>
              </a:rPr>
              <a:t> Rauf dur, </a:t>
            </a:r>
            <a:r>
              <a:rPr lang="en-US" dirty="0" err="1">
                <a:solidFill>
                  <a:schemeClr val="accent1"/>
                </a:solidFill>
              </a:rPr>
              <a:t>Rahîm'dir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3926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692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Google Sans</vt:lpstr>
      <vt:lpstr>Office Theme</vt:lpstr>
      <vt:lpstr>İbn Kesir Tefsiri</vt:lpstr>
      <vt:lpstr>TİN SURESİ 4. AYET</vt:lpstr>
      <vt:lpstr>TİN SURESİ 5. AYET</vt:lpstr>
      <vt:lpstr>CASİYE SURESİ 13. AYET</vt:lpstr>
      <vt:lpstr>HAC SURESİ 65. AYET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ferit sen</dc:creator>
  <cp:lastModifiedBy>ferit sen</cp:lastModifiedBy>
  <cp:revision>3</cp:revision>
  <dcterms:created xsi:type="dcterms:W3CDTF">2025-10-31T17:12:27Z</dcterms:created>
  <dcterms:modified xsi:type="dcterms:W3CDTF">2025-10-31T18:12:52Z</dcterms:modified>
</cp:coreProperties>
</file>